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8a7131e210441a" /><Relationship Type="http://schemas.openxmlformats.org/officeDocument/2006/relationships/extended-properties" Target="/docProps/app.xml" Id="R89d1afba3cfe4841" /><Relationship Type="http://schemas.openxmlformats.org/officeDocument/2006/relationships/officeDocument" Target="/ppt/presentation.xml" Id="Rdc29a694ac1c4f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1c744474d24f07"/>
  </p:sldMasterIdLst>
  <p:notesMasterIdLst>
    <p:notesMasterId xmlns:r="http://schemas.openxmlformats.org/officeDocument/2006/relationships" r:id="R4a0f18edf63547a9"/>
  </p:notesMasterIdLst>
  <p:sldIdLst>
    <p:sldId xmlns:r="http://schemas.openxmlformats.org/officeDocument/2006/relationships" id="256" r:id="R9a0fa9c7a4a846cf"/>
    <p:sldId xmlns:r="http://schemas.openxmlformats.org/officeDocument/2006/relationships" id="257" r:id="Rb1227283b01a4254"/>
    <p:sldId xmlns:r="http://schemas.openxmlformats.org/officeDocument/2006/relationships" id="258" r:id="Rfe80673be0244523"/>
    <p:sldId xmlns:r="http://schemas.openxmlformats.org/officeDocument/2006/relationships" id="259" r:id="R6567f4aac6a8441d"/>
    <p:sldId xmlns:r="http://schemas.openxmlformats.org/officeDocument/2006/relationships" id="260" r:id="R67f8f4540c9b44ed"/>
    <p:sldId xmlns:r="http://schemas.openxmlformats.org/officeDocument/2006/relationships" id="261" r:id="R8f93ec9f887c4c1e"/>
    <p:sldId xmlns:r="http://schemas.openxmlformats.org/officeDocument/2006/relationships" id="262" r:id="Rca9c6952fa9d482a"/>
    <p:sldId xmlns:r="http://schemas.openxmlformats.org/officeDocument/2006/relationships" id="263" r:id="R1b17ad8711384a3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7d78a57579421f" /><Relationship Type="http://schemas.openxmlformats.org/officeDocument/2006/relationships/slideMaster" Target="/ppt/slideMasters/slideMaster1.xml" Id="R111c744474d24f07" /><Relationship Type="http://schemas.openxmlformats.org/officeDocument/2006/relationships/notesMaster" Target="/ppt/notesMasters/notesMaster1.xml" Id="R4a0f18edf63547a9" /><Relationship Type="http://schemas.openxmlformats.org/officeDocument/2006/relationships/presProps" Target="/ppt/presProps.xml" Id="Rda964e63979a4844" /><Relationship Type="http://schemas.openxmlformats.org/officeDocument/2006/relationships/tableStyles" Target="/ppt/tableStyles.xml" Id="R77e37b8d5d3f495c" /><Relationship Type="http://schemas.openxmlformats.org/officeDocument/2006/relationships/slide" Target="/ppt/slides/slide1.xml" Id="R9a0fa9c7a4a846cf" /><Relationship Type="http://schemas.openxmlformats.org/officeDocument/2006/relationships/slide" Target="/ppt/slides/slide2.xml" Id="Rb1227283b01a4254" /><Relationship Type="http://schemas.openxmlformats.org/officeDocument/2006/relationships/slide" Target="/ppt/slides/slide3.xml" Id="Rfe80673be0244523" /><Relationship Type="http://schemas.openxmlformats.org/officeDocument/2006/relationships/slide" Target="/ppt/slides/slide4.xml" Id="R6567f4aac6a8441d" /><Relationship Type="http://schemas.openxmlformats.org/officeDocument/2006/relationships/slide" Target="/ppt/slides/slide5.xml" Id="R67f8f4540c9b44ed" /><Relationship Type="http://schemas.openxmlformats.org/officeDocument/2006/relationships/slide" Target="/ppt/slides/slide6.xml" Id="R8f93ec9f887c4c1e" /><Relationship Type="http://schemas.openxmlformats.org/officeDocument/2006/relationships/slide" Target="/ppt/slides/slide7.xml" Id="Rca9c6952fa9d482a" /><Relationship Type="http://schemas.openxmlformats.org/officeDocument/2006/relationships/slide" Target="/ppt/slides/slide8.xml" Id="R1b17ad8711384a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3a93da06a249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be147c14a04741" /><Relationship Type="http://schemas.openxmlformats.org/officeDocument/2006/relationships/notesMaster" Target="/ppt/notesMasters/notesMaster1.xml" Id="R7fe6b7f8ceea4b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6cd58e09de497a" /><Relationship Type="http://schemas.openxmlformats.org/officeDocument/2006/relationships/notesMaster" Target="/ppt/notesMasters/notesMaster1.xml" Id="Rf3b097704f4e4e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2c085bb56a43da" /><Relationship Type="http://schemas.openxmlformats.org/officeDocument/2006/relationships/notesMaster" Target="/ppt/notesMasters/notesMaster1.xml" Id="R5f10a376f55643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fd13955b144983" /><Relationship Type="http://schemas.openxmlformats.org/officeDocument/2006/relationships/notesMaster" Target="/ppt/notesMasters/notesMaster1.xml" Id="R732403a2991640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ad2c93ddfa4e00" /><Relationship Type="http://schemas.openxmlformats.org/officeDocument/2006/relationships/notesMaster" Target="/ppt/notesMasters/notesMaster1.xml" Id="Raefcc9f5270b44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a6930bace549bc" /><Relationship Type="http://schemas.openxmlformats.org/officeDocument/2006/relationships/notesMaster" Target="/ppt/notesMasters/notesMaster1.xml" Id="Rb4ce6177641d44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457d60b22f4606" /><Relationship Type="http://schemas.openxmlformats.org/officeDocument/2006/relationships/notesMaster" Target="/ppt/notesMasters/notesMaster1.xml" Id="R72ef2067aeee44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740481366b404c" /><Relationship Type="http://schemas.openxmlformats.org/officeDocument/2006/relationships/notesMaster" Target="/ppt/notesMasters/notesMaster1.xml" Id="R12344e0024554a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0db1bcbcff43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9e541e6bf64f4d" /><Relationship Type="http://schemas.openxmlformats.org/officeDocument/2006/relationships/slideLayout" Target="/ppt/slideLayouts/slideLayout1.xml" Id="R98084e0d6bfc4f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084e0d6bfc4f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9c28189daf4bc8" /><Relationship Type="http://schemas.openxmlformats.org/officeDocument/2006/relationships/notesSlide" Target="/ppt/notesSlides/notesSlide1.xml" Id="Rec67a72156be49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e97000b0714621" /><Relationship Type="http://schemas.openxmlformats.org/officeDocument/2006/relationships/notesSlide" Target="/ppt/notesSlides/notesSlide2.xml" Id="Rbe2ff646715f47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bd1e224c2749fa" /><Relationship Type="http://schemas.openxmlformats.org/officeDocument/2006/relationships/notesSlide" Target="/ppt/notesSlides/notesSlide3.xml" Id="R9d4ca324af8445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b42a477de942a5" /><Relationship Type="http://schemas.openxmlformats.org/officeDocument/2006/relationships/notesSlide" Target="/ppt/notesSlides/notesSlide4.xml" Id="R02660d7c63f948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c110f4792d45fd" /><Relationship Type="http://schemas.openxmlformats.org/officeDocument/2006/relationships/notesSlide" Target="/ppt/notesSlides/notesSlide5.xml" Id="R3d8a87a02c064a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3aa42d95e4c98" /><Relationship Type="http://schemas.openxmlformats.org/officeDocument/2006/relationships/notesSlide" Target="/ppt/notesSlides/notesSlide6.xml" Id="R232396f665c646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7c6942d49149a0" /><Relationship Type="http://schemas.openxmlformats.org/officeDocument/2006/relationships/notesSlide" Target="/ppt/notesSlides/notesSlide7.xml" Id="Ra2f1a422c3ee48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0f10e1a7064f32" /><Relationship Type="http://schemas.openxmlformats.org/officeDocument/2006/relationships/notesSlide" Target="/ppt/notesSlides/notesSlide8.xml" Id="R4ea4e46fefa34f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08C0DC-C510-4E1F-AFCF-FD9F94BA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KVCache Forge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567DEA-F394-495B-A51C-924A66FF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9334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00000"/>
                </a:solidFill>
              </a:defRPr>
            </a:pPr>
            <a:r>
              <a:rPr sz="4650" b="1">
                <a:solidFill>
                  <a:srgbClr val="000000"/>
                </a:solidFill>
              </a:rPr>
              <a:t>Mooncake Store碎片感知优化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FB6995-700A-435A-B22C-B1796DF8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面向混合尺寸KVCache对象的请求相关segment选择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9E0736-EC40-4673-B4C2-C97A358C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666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3AFBAA-DF41-43FA-8437-95728065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赛题2 · Store吞吐性能与可扩展性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3C3FDE-ACD0-4193-8CB8-246A8EC3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刘神舟（队长） · 罗荣裕 · 王英颖 · 杨俊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A2578D-2812-4089-BC4C-8DC23A77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0"/>
            <a:ext cx="2838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EBE95A-AE5D-468C-86A6-8295FA8B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78105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PR #2797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DB056F-C0C8-46EE-A2CB-A2F539D4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428750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26项通过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1项跳过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23E44F-50FC-4F98-ACEA-1F925EE9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CCF 2026 Mooncake · Fragmentation-aware allocation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2802CE-71A9-470C-A72C-C53796B0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336541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5A8606-AD7F-4B25-9D8F-3F592362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Mooncake Store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582FE2-17A2-4EF4-94B0-AD7BD9BD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总空闲很多，不代表当前大对象能够落地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D32841-9DF4-4C2A-975E-0B862494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04590A-36E9-4AC7-966F-2496CDF1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E539F8-E3CC-499A-A9A8-ADD504EE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90750"/>
            <a:ext cx="1002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混合尺寸KVCache反复分配与释放，逐步产生不连续空闲区。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99A666-56F6-45E4-96C4-4C831835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6272FF-4159-4AD6-A0E7-C2D9CE4C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33700"/>
            <a:ext cx="1002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free_ratio_first只看总空闲比例，可能优先选择无法连续容纳请求的segment。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6A5BB7-72B2-44E7-A75C-67E12945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BB5CE2-960A-4BEF-9DE1-52DB56AC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76650"/>
            <a:ext cx="1002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错误首选会触发allocator失败和fallback，并在高并发下放大额外路径开销。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1F2F94-68CC-415C-B889-9921A3EC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CCF 2026 Mooncake · Fragmentation-aware allocation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97F9CD-F66E-4B61-87F4-19A8ED15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417146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0DCE7E-4E38-4829-B374-73F2FDC9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Mooncake Store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379313-F50F-457D-A5F1-FE2A3A62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先判断能否容纳，再在可用候选中平衡空间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B175CA-CDEF-4010-8C13-E806C0A9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558BA2-9DA1-4995-900C-002AA45C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3E90C-5CEE-4B5F-83C5-9EFC3700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free_ratio_first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B42872-0E2E-4B84-BF1A-CAF4A954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按总空闲比例排序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48AEE4-3C81-473F-B5F9-7A6F080B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3733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无法区分“容量总量足够”和“最大连续区足够”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3685BD-09B4-4469-91C1-E657B559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90750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506692-DD1D-4C3E-B577-0190E247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765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fragmentation_aware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F5C576-B701-48E5-AE6B-C78EEC14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480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can_fit优先，score用于同类候选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6FF335-5E50-42E6-B8B9-D92DF957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581400"/>
            <a:ext cx="3733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沿用bounded sampling、preferred/excluded和fallback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25E30C-2E55-4BAF-B01F-10E899A1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CCF 2026 Mooncake · Fragmentation-aware allocation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7B3074-5972-49C0-81C6-F29AB154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446038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6BDA69-46AD-4A7C-8BFD-0649DAD5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Mooncake Store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5FB96D-5ACA-474D-97E2-B838FB70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9个文件完成策略、配置、测试与文档闭环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782E99-2E52-4E77-A8D8-31C8A5C4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D8D76C-C199-413E-897D-E5A6AEEF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76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427779-0D63-4140-9F42-075E860F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28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策略类型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88CF46-8FD7-4D0C-8D9F-5AA8F26E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2288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新增FRAGMENTATION_AWARE枚举与工厂分支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BCBF79-A0F5-469F-B847-BC01A3D4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1076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C172D9-158C-493A-894B-F2FF6F3D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19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启动配置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6227A1-52FE-4BDA-A79E-15D55C82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8194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--allocation_strategy=fragmentation_aware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E81F3F-DF11-4662-9774-6BC0ED77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1076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694BBA-4935-4F66-8547-1603A27D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9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核心排序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6F4A87-0AF1-408F-B9CB-6CF1EE32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4099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can_fit → score → largest region → stable tie-break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88FBF8-86BA-4408-B0D2-0E0BB3D2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67150"/>
            <a:ext cx="1076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F83035-BBBC-4055-8B42-BBA01C65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正确性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E406BA-C366-4036-A32B-3BAC5A93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0005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覆盖碎片反例、preferred语义与多副本去重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22E23F-2E3B-4B15-A843-EF97B5BB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57700"/>
            <a:ext cx="1076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1A23F9-7633-4F4C-BC1F-EF2A6487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工程化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F182E6-B1F9-47B5-B741-B0D2192B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5910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接入benchmark、设计文档、部署文档和CI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BD0957-BAFD-46A8-941D-D2256D95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CCF 2026 Mooncake · Fragmentation-aware allocation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3AD9A4-45D0-4D93-906C-B20B9425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843462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039FB9-D1B5-4DF0-A8D9-8185ADD0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Mooncake Store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4BE58D-4315-444A-95D6-3E9BF0B2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相同候选规模下，错误首选与fallback被消除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B9ED99-05A1-4AFD-BF6C-DB6A1342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D1889B-608B-4360-8365-927A409C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0E835C-000A-4B6B-A2FA-6E2FAE86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0/6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1162E7-7BF2-46B6-9539-933A6213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基线首选可直接容纳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C78B9D-3D48-4EE0-8162-827ECA29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0980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266894-A945-4F21-A060-53D90399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19350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6/6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73B30C-E1BC-4854-9613-BCF4801C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8610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新策略首选可直接容纳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0B9F80-B45B-4C81-BC0E-9212096F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980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40AC8F-B760-4906-8555-222957AC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19350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11 →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CB620C-15ED-4834-8053-B533AB30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8610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fallback尝试次数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7436B3-B0B2-4F9A-B9D9-FF9B9F71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0980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695E9F-C9F6-4511-B39D-C78A3498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19350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5.00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E0AA70-AE86-4BDD-BD76-4BD18081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8610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平均候选segment数量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F8FAA8-63A3-4D98-BDF7-B084F9E6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4340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最终可容纳均为6/6；收益来自排序信号变化。新增决策开销约17.93ns。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11A963-C300-4059-A548-506E6C7A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CCF 2026 Mooncake · Fragmentation-aware allocation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167052-4B6F-4AC6-8216-98B65539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021761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EA8C2E-9166-4957-AA5E-1F4B1063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Mooncake Store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9141E6-CBFD-46D6-82C0-94323916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上游PR与完整CI证明代码具备工程可审查性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BFE2F4-8F78-46CF-9083-F128C934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FFE220-9EF7-4188-81D7-BBEAF6EE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30D11A-0F1B-4171-A1E6-61DCD8FD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95500"/>
            <a:ext cx="963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Draft PR #2797公开展示完整代码差异与4次提交历史。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95C798-D594-4290-9A1A-FCF0EFBE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E456BA-9D07-421C-B071-90C4436B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62250"/>
            <a:ext cx="963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GitHub Actions最终结果：26项检查成功，1项按条件跳过。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CD0F68-5F6B-48A5-B467-85CADAEE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090E12-D961-4154-89EA-B57F7A60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29000"/>
            <a:ext cx="963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代码格式、Linux构建、文档构建和相关测试均通过。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500AFF-120C-4727-8B4A-13FAACC6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AE6FD2-E583-450E-9379-E2E4E47D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95750"/>
            <a:ext cx="9639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GitHub与GitLink材料仓库提供报告、PPT、复现源码、日志和提交包。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7E1393-7D27-4AB4-BD8E-B95F85C6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CCF 2026 Mooncake · Fragmentation-aware allocation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A3B6E2-26AD-4F9F-939B-E0C132CF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372721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43EE1D-C291-4B65-8B8B-A7969764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Mooncake Store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8202D0-774F-4D47-B697-7BC80216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成果直接覆盖赛题2的核心评分维度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F3DFBB-5187-4207-ABB8-9B0C5768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2D46C0-FDED-4786-92F4-E5AA7773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71F759-A8B6-4904-B466-671F91C9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86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技术完整性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6B8C2D-2B32-434A-A29B-7E22C3C9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86000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真实Store路径接入策略、配置、测试、benchmark和文档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E46E20-8770-464B-BB5A-AD7C4C99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33700"/>
            <a:ext cx="1076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5EF1B4-799E-4F83-B81D-AF870B76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场景适配性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043F1F-B5B3-48E1-98AD-4B3042DC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05150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针对混合尺寸KVCache与长期运行碎片化segment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191EBE-6945-44DE-8323-D18E13B1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52850"/>
            <a:ext cx="1076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7BB6B2-3766-4F7B-B4AA-D63F48F1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243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创新性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2748D6-5CD5-41C9-9CA6-E0E25733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24300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请求相关can_fit + 连续性评分，避免总空闲误判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274349-2E6F-46F5-88DC-BFFCD512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1076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60D263-586A-4036-BE68-A943E43A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434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边界与扩展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E086A1-8EC3-4B5E-B4FF-1E74A7F4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43450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不外推RDMA/HiCache端到端吞吐；接口已为实测准备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3C96CC-402A-4B88-BB22-46AB9722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CCF 2026 Mooncake · Fragmentation-aware allocation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092276-63E7-4EFB-BA14-073A3DE4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057895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C62BC2-3A8B-4C97-83D8-ACDAD3CF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Mooncake Store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F41250-E643-4BE6-896D-B043B4C3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项目已经形成可提交、可复现、可评审闭环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CB52ED-DCFF-46F0-AA11-F33A7C00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08F9A2-B67C-44AE-97CA-BB18CFD7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代码证据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9A2160-009A-43FD-9B1F-FF0D7E67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上游PR #2797 + Lorry1024/Mooncake开发分支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872351-56D9-44C6-9DDA-E8F3476B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材料证据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0D865D-4251-4E74-9571-67BBE28A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GitHub/GitLink公开仓库 + 技术报告 + 复现日志 + 最终压缩包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4C126B-B884-4E6F-8B6A-4C0FAFF5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71700"/>
            <a:ext cx="3048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6F9AEF-C217-41E4-9677-7DD9FDDF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574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核心结论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F13B9D-DBC1-49BF-AD76-7BAC8E5C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05150"/>
            <a:ext cx="228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在不改变Mooncake默认行为的前提下，碎片感知排序让大对象优先尝试真正具有足够连续空间的segment。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89182E-2F47-4875-BFBE-E4DCB57C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CCF 2026 Mooncake · Fragmentation-aware allocation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54F5FC-D659-44CE-A1D5-29547BE0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792301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2026-07-10T13:48:05.7660000Z</dcterms:created>
  <dcterms:modified xsi:type="dcterms:W3CDTF">2026-07-10T13:48:05.7660000Z</dcterms:modified>
</coreProperties>
</file>