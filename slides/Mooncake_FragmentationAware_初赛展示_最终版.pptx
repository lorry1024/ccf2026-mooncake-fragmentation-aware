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810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KVCache Forge</a:t>
            </a:r>
            <a:endParaRPr sz="1350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619250"/>
            <a:ext cx="93345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650" b="1">
                <a:solidFill>
                  <a:srgbClr val="000000"/>
                </a:solidFill>
              </a:defRPr>
            </a:pPr>
            <a:r>
              <a:rPr sz="4650" b="1">
                <a:solidFill>
                  <a:srgbClr val="000000"/>
                </a:solidFill>
              </a:rPr>
              <a:t>Mooncake Store碎片感知优化</a:t>
            </a:r>
            <a:endParaRPr sz="465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3143250"/>
            <a:ext cx="819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面向混合尺寸KVCache对象的请求相关segment选择</a:t>
            </a:r>
            <a:endParaRPr sz="1950" b="0">
              <a:solidFill>
                <a:srgbClr val="555555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4762500"/>
            <a:ext cx="6667500" cy="9144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914900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赛题2 · Store吞吐性能与可扩展性</a:t>
            </a:r>
            <a:endParaRPr sz="1350" b="1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276850"/>
            <a:ext cx="619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55555"/>
                </a:solidFill>
              </a:defRPr>
            </a:pPr>
            <a:r>
              <a:rPr>
                <a:sym typeface="+mn-ea"/>
              </a:rPr>
              <a:t>罗荣裕</a:t>
            </a:r>
            <a:r>
              <a:rPr sz="1200" b="0">
                <a:solidFill>
                  <a:srgbClr val="555555"/>
                </a:solidFill>
              </a:rPr>
              <a:t>（队长） · </a:t>
            </a:r>
            <a:r>
              <a:rPr>
                <a:sym typeface="+mn-ea"/>
              </a:rPr>
              <a:t>刘神舟</a:t>
            </a:r>
            <a:r>
              <a:rPr sz="1200" b="0">
                <a:solidFill>
                  <a:srgbClr val="555555"/>
                </a:solidFill>
              </a:rPr>
              <a:t> · 王英颖 · 杨俊</a:t>
            </a:r>
            <a:endParaRPr sz="1200" b="0">
              <a:solidFill>
                <a:srgbClr val="55555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953500" y="0"/>
            <a:ext cx="2838450" cy="68580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353550" y="78105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PR #2797</a:t>
            </a:r>
            <a:endParaRPr sz="3150" b="1">
              <a:solidFill>
                <a:srgbClr val="000000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9353550" y="1428750"/>
            <a:ext cx="2190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26项通过</a:t>
            </a:r>
            <a:endParaRPr sz="1350" b="0">
              <a:solidFill>
                <a:srgbClr val="555555"/>
              </a:solidFill>
            </a:endParaRPr>
          </a:p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1项跳过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01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总空闲很多，不代表当前大对象能够落地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62000" y="22669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2190750"/>
            <a:ext cx="1002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混合尺寸KVCache反复分配与释放，逐步产生不连续空闲区。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62000" y="30099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28700" y="2933700"/>
            <a:ext cx="1002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free_ratio_first只看总空闲比例，可能优先选择无法连续容纳请求的segment。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62000" y="37528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028700" y="3676650"/>
            <a:ext cx="1002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错误首选会触发allocator失败和fallback，并在高并发下放大额外路径开销。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02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先判断能否容纳，再在可用候选中平衡空间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2190750"/>
            <a:ext cx="4762500" cy="28575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52500" y="24765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free_ratio_first</a:t>
            </a:r>
            <a:endParaRPr sz="2100" b="1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52500" y="30480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按总空闲比例排序</a:t>
            </a:r>
            <a:endParaRPr sz="1650" b="0">
              <a:solidFill>
                <a:srgbClr val="55555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52500" y="3581400"/>
            <a:ext cx="3733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无法区分“容量总量足够”和“最大连续区足够”</a:t>
            </a:r>
            <a:endParaRPr sz="1575" b="0">
              <a:solidFill>
                <a:srgbClr val="000000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43700" y="2190750"/>
            <a:ext cx="4762500" cy="28575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010400" y="24765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fragmentation_aware</a:t>
            </a:r>
            <a:endParaRPr sz="2100" b="1">
              <a:solidFill>
                <a:srgbClr val="000000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010400" y="30480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can_fit优先，score用于同类候选</a:t>
            </a:r>
            <a:endParaRPr sz="1650" b="0">
              <a:solidFill>
                <a:srgbClr val="555555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010400" y="3581400"/>
            <a:ext cx="37338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沿用bounded sampling、preferred/excluded和fallback</a:t>
            </a:r>
            <a:endParaRPr sz="1575" b="0">
              <a:solidFill>
                <a:srgbClr val="000000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03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9个文件完成策略、配置、测试与文档闭环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2095500"/>
            <a:ext cx="10763250" cy="5143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95350" y="22288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策略类型</a:t>
            </a:r>
            <a:endParaRPr sz="1500" b="1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76600" y="222885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新增FRAGMENTATION_AWARE枚举与工厂分支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04850" y="2686050"/>
            <a:ext cx="10763250" cy="5143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95350" y="28194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启动配置</a:t>
            </a:r>
            <a:endParaRPr sz="1500" b="1">
              <a:solidFill>
                <a:srgbClr val="000000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76600" y="2819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--allocation_strategy=fragmentation_aware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3276600"/>
            <a:ext cx="10763250" cy="5143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895350" y="3409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核心排序</a:t>
            </a:r>
            <a:endParaRPr sz="1500" b="1">
              <a:solidFill>
                <a:srgbClr val="000000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276600" y="340995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can_fit → score → largest region → stable tie-break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04850" y="3867150"/>
            <a:ext cx="10763250" cy="5143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95350" y="40005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正确性</a:t>
            </a:r>
            <a:endParaRPr sz="1500" b="1">
              <a:solidFill>
                <a:srgbClr val="000000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276600" y="40005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覆盖碎片反例、preferred语义与多副本去重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04850" y="4457700"/>
            <a:ext cx="10763250" cy="5143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95350" y="45910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工程化</a:t>
            </a:r>
            <a:endParaRPr sz="1500" b="1">
              <a:solidFill>
                <a:srgbClr val="000000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276600" y="459105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接入benchmark、设计文档、部署文档和CI</a:t>
            </a:r>
            <a:endParaRPr sz="1500" b="0">
              <a:solidFill>
                <a:srgbClr val="55555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04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相同候选规模下，错误首选与fallback被消除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2209800"/>
            <a:ext cx="2476500" cy="1428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14400" y="2419350"/>
            <a:ext cx="2057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0/6</a:t>
            </a:r>
            <a:endParaRPr sz="3450" b="1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30861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基线首选可直接容纳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543300" y="2209800"/>
            <a:ext cx="2476500" cy="1428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752850" y="2419350"/>
            <a:ext cx="2057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6/6</a:t>
            </a:r>
            <a:endParaRPr sz="3450" b="1">
              <a:solidFill>
                <a:srgbClr val="000000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752850" y="30861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新策略首选可直接容纳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381750" y="2209800"/>
            <a:ext cx="2476500" cy="1428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591300" y="2419350"/>
            <a:ext cx="2057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11 → 0</a:t>
            </a:r>
            <a:endParaRPr sz="3450" b="1">
              <a:solidFill>
                <a:srgbClr val="000000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591300" y="30861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fallback尝试次数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220200" y="2209800"/>
            <a:ext cx="2476500" cy="1428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429750" y="2419350"/>
            <a:ext cx="2057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5.00</a:t>
            </a:r>
            <a:endParaRPr sz="3450" b="1">
              <a:solidFill>
                <a:srgbClr val="000000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429750" y="30861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平均候选segment数量</a:t>
            </a:r>
            <a:endParaRPr sz="1350" b="0">
              <a:solidFill>
                <a:srgbClr val="555555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04850" y="4343400"/>
            <a:ext cx="10191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最终可容纳均为6/6；收益来自排序信号变化。新增决策开销约17.93ns。</a:t>
            </a:r>
            <a:endParaRPr sz="1800" b="0">
              <a:solidFill>
                <a:srgbClr val="000000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05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上游PR与完整CI证明代码具备工程可审查性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14400" y="21717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181100" y="2095500"/>
            <a:ext cx="963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Draft PR #2797公开展示完整代码差异与4次提交历史。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28384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81100" y="2762250"/>
            <a:ext cx="963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GitHub Actions最终结果：26项检查成功，1项按条件跳过。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14400" y="35052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181100" y="3429000"/>
            <a:ext cx="963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代码格式、Linux构建、文档构建和相关测试均通过。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41719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181100" y="4095750"/>
            <a:ext cx="963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GitHub与GitLink材料仓库提供报告、PPT、复现源码、日志和提交包。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06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成果直接覆盖赛题2的核心评分维度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2114550"/>
            <a:ext cx="10763250" cy="628650"/>
          </a:xfrm>
          <a:prstGeom prst="rect">
            <a:avLst/>
          </a:prstGeom>
          <a:solidFill>
            <a:srgbClr val="FFE8D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71550" y="22860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技术完整性</a:t>
            </a:r>
            <a:endParaRPr sz="1650" b="1">
              <a:solidFill>
                <a:srgbClr val="FF6B35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952750" y="2286000"/>
            <a:ext cx="790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真实Store路径接入策略、配置、测试、benchmark和文档</a:t>
            </a:r>
            <a:endParaRPr sz="1575" b="0">
              <a:solidFill>
                <a:srgbClr val="000000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04850" y="2933700"/>
            <a:ext cx="10763250" cy="6286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71550" y="31051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场景适配性</a:t>
            </a:r>
            <a:endParaRPr sz="1650" b="1">
              <a:solidFill>
                <a:srgbClr val="000000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952750" y="3105150"/>
            <a:ext cx="790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针对混合尺寸KVCache与长期运行碎片化segment</a:t>
            </a:r>
            <a:endParaRPr sz="1575" b="0">
              <a:solidFill>
                <a:srgbClr val="000000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3752850"/>
            <a:ext cx="10763250" cy="6286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971550" y="39243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创新性</a:t>
            </a:r>
            <a:endParaRPr sz="1650" b="1">
              <a:solidFill>
                <a:srgbClr val="000000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952750" y="3924300"/>
            <a:ext cx="790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请求相关can_fit + 连续性评分，避免总空闲误判</a:t>
            </a:r>
            <a:endParaRPr sz="1575" b="0">
              <a:solidFill>
                <a:srgbClr val="000000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04850" y="4572000"/>
            <a:ext cx="10763250" cy="6286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47434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边界与扩展</a:t>
            </a:r>
            <a:endParaRPr sz="1650" b="1">
              <a:solidFill>
                <a:srgbClr val="000000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952750" y="4743450"/>
            <a:ext cx="790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不外推RDMA/HiCache端到端吞吐；接口已为实测准备</a:t>
            </a:r>
            <a:endParaRPr sz="1575" b="0">
              <a:solidFill>
                <a:srgbClr val="000000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07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400050" y="36195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Mooncake Store</a:t>
            </a:r>
            <a:endParaRPr sz="1125" b="1">
              <a:solidFill>
                <a:srgbClr val="555555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723900"/>
            <a:ext cx="10096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00000"/>
                </a:solidFill>
              </a:defRPr>
            </a:pPr>
            <a:r>
              <a:rPr sz="3300" b="1">
                <a:solidFill>
                  <a:srgbClr val="000000"/>
                </a:solidFill>
              </a:rPr>
              <a:t>项目已经形成可提交、可复现、可评审闭环</a:t>
            </a:r>
            <a:endParaRPr sz="3300" b="1">
              <a:solidFill>
                <a:srgbClr val="000000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1581150"/>
            <a:ext cx="11391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762000" y="21717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代码证据</a:t>
            </a:r>
            <a:endParaRPr sz="2100" b="1">
              <a:solidFill>
                <a:srgbClr val="000000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62000" y="26479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上游PR #2797 + Lorry1024/Mooncake开发分支</a:t>
            </a:r>
            <a:endParaRPr sz="1800" b="0">
              <a:solidFill>
                <a:srgbClr val="00000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62000" y="37147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材料证据</a:t>
            </a:r>
            <a:endParaRPr sz="2100" b="1">
              <a:solidFill>
                <a:srgbClr val="000000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4191000"/>
            <a:ext cx="628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GitHub/GitLink公开仓库 + 技术报告 + 复现日志 + 最终压缩包</a:t>
            </a:r>
            <a:endParaRPr sz="1800" b="0">
              <a:solidFill>
                <a:srgbClr val="000000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0" y="2171700"/>
            <a:ext cx="3048000" cy="2571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115300" y="245745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核心结论</a:t>
            </a:r>
            <a:endParaRPr sz="2100" b="1">
              <a:solidFill>
                <a:srgbClr val="000000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115300" y="3105150"/>
            <a:ext cx="2286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在不改变Mooncake默认行为的前提下，碎片感知排序让大对象优先尝试真正具有足够连续空间的segment。</a:t>
            </a:r>
            <a:endParaRPr sz="1650" b="0">
              <a:solidFill>
                <a:srgbClr val="000000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00050" y="632460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CCF 2026 Mooncake · Fragmentation-aware allocation</a:t>
            </a:r>
            <a:endParaRPr sz="1050" b="0">
              <a:solidFill>
                <a:srgbClr val="555555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315700" y="63246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08</a:t>
            </a:r>
            <a:endParaRPr sz="1050" b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1715</Words>
  <Application>WPS 演示</Application>
  <PresentationFormat>Converted Presentation</PresentationFormat>
  <Paragraphs>167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Arial</vt:lpstr>
      <vt:lpstr>宋体</vt:lpstr>
      <vt:lpstr>Wingdings</vt:lpstr>
      <vt:lpstr>Calibri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罗荣裕</cp:lastModifiedBy>
  <cp:revision>1</cp:revision>
  <dcterms:created xsi:type="dcterms:W3CDTF">2026-07-10T14:22:25Z</dcterms:created>
  <dcterms:modified xsi:type="dcterms:W3CDTF">2026-07-10T14:22:25Z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E9F4351D5CD14A129571CB70E6A7087E_12</vt:lpwstr>
  </property>
  <property fmtid="{D5CDD505-2E9C-101B-9397-08002B2CF9AE}" pid="3" name="KSOProductBuildVer">
    <vt:lpwstr>2052-12.1.0.26375</vt:lpwstr>
  </property>
</Properties>
</file>