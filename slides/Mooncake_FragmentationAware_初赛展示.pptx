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cbe2cefddd4a07" /><Relationship Type="http://schemas.openxmlformats.org/officeDocument/2006/relationships/extended-properties" Target="/docProps/app.xml" Id="Rf5430c2a53ea4a2a" /><Relationship Type="http://schemas.openxmlformats.org/officeDocument/2006/relationships/officeDocument" Target="/ppt/presentation.xml" Id="Rf2300f6942084b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7535108a8947fc"/>
  </p:sldMasterIdLst>
  <p:notesMasterIdLst>
    <p:notesMasterId xmlns:r="http://schemas.openxmlformats.org/officeDocument/2006/relationships" r:id="R285141e1191e4e2b"/>
  </p:notesMasterIdLst>
  <p:sldIdLst>
    <p:sldId xmlns:r="http://schemas.openxmlformats.org/officeDocument/2006/relationships" id="256" r:id="R6a39caf9f2134097"/>
    <p:sldId xmlns:r="http://schemas.openxmlformats.org/officeDocument/2006/relationships" id="257" r:id="R2bb9205167b947a4"/>
    <p:sldId xmlns:r="http://schemas.openxmlformats.org/officeDocument/2006/relationships" id="258" r:id="R954f8a94c2904870"/>
    <p:sldId xmlns:r="http://schemas.openxmlformats.org/officeDocument/2006/relationships" id="259" r:id="Rd5d5cd0295614210"/>
    <p:sldId xmlns:r="http://schemas.openxmlformats.org/officeDocument/2006/relationships" id="260" r:id="Ra77d37b1e0584b0d"/>
    <p:sldId xmlns:r="http://schemas.openxmlformats.org/officeDocument/2006/relationships" id="261" r:id="Ra69d936b65574b63"/>
    <p:sldId xmlns:r="http://schemas.openxmlformats.org/officeDocument/2006/relationships" id="262" r:id="R3777781c43404b20"/>
    <p:sldId xmlns:r="http://schemas.openxmlformats.org/officeDocument/2006/relationships" id="263" r:id="R1afd8a56b6c34e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d039f539d34855" /><Relationship Type="http://schemas.openxmlformats.org/officeDocument/2006/relationships/slideMaster" Target="/ppt/slideMasters/slideMaster1.xml" Id="R457535108a8947fc" /><Relationship Type="http://schemas.openxmlformats.org/officeDocument/2006/relationships/notesMaster" Target="/ppt/notesMasters/notesMaster1.xml" Id="R285141e1191e4e2b" /><Relationship Type="http://schemas.openxmlformats.org/officeDocument/2006/relationships/presProps" Target="/ppt/presProps.xml" Id="Ra2260a01ac014843" /><Relationship Type="http://schemas.openxmlformats.org/officeDocument/2006/relationships/tableStyles" Target="/ppt/tableStyles.xml" Id="R5d18574422a44737" /><Relationship Type="http://schemas.openxmlformats.org/officeDocument/2006/relationships/slide" Target="/ppt/slides/slide1.xml" Id="R6a39caf9f2134097" /><Relationship Type="http://schemas.openxmlformats.org/officeDocument/2006/relationships/slide" Target="/ppt/slides/slide2.xml" Id="R2bb9205167b947a4" /><Relationship Type="http://schemas.openxmlformats.org/officeDocument/2006/relationships/slide" Target="/ppt/slides/slide3.xml" Id="R954f8a94c2904870" /><Relationship Type="http://schemas.openxmlformats.org/officeDocument/2006/relationships/slide" Target="/ppt/slides/slide4.xml" Id="Rd5d5cd0295614210" /><Relationship Type="http://schemas.openxmlformats.org/officeDocument/2006/relationships/slide" Target="/ppt/slides/slide5.xml" Id="Ra77d37b1e0584b0d" /><Relationship Type="http://schemas.openxmlformats.org/officeDocument/2006/relationships/slide" Target="/ppt/slides/slide6.xml" Id="Ra69d936b65574b63" /><Relationship Type="http://schemas.openxmlformats.org/officeDocument/2006/relationships/slide" Target="/ppt/slides/slide7.xml" Id="R3777781c43404b20" /><Relationship Type="http://schemas.openxmlformats.org/officeDocument/2006/relationships/slide" Target="/ppt/slides/slide8.xml" Id="R1afd8a56b6c34e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1e0139f0ae4a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4cf6f8255d4863" /><Relationship Type="http://schemas.openxmlformats.org/officeDocument/2006/relationships/notesMaster" Target="/ppt/notesMasters/notesMaster1.xml" Id="R82f4b4ccbc0047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67f2fae5964914" /><Relationship Type="http://schemas.openxmlformats.org/officeDocument/2006/relationships/notesMaster" Target="/ppt/notesMasters/notesMaster1.xml" Id="Re04ed9651c384a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172c6540ec4d2d" /><Relationship Type="http://schemas.openxmlformats.org/officeDocument/2006/relationships/notesMaster" Target="/ppt/notesMasters/notesMaster1.xml" Id="R2ac37697d8ce47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b567ebaf1a489c" /><Relationship Type="http://schemas.openxmlformats.org/officeDocument/2006/relationships/notesMaster" Target="/ppt/notesMasters/notesMaster1.xml" Id="R42a265d793ed43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215f30634840c6" /><Relationship Type="http://schemas.openxmlformats.org/officeDocument/2006/relationships/notesMaster" Target="/ppt/notesMasters/notesMaster1.xml" Id="R20f2f2fbba5643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27fd6e4672441b" /><Relationship Type="http://schemas.openxmlformats.org/officeDocument/2006/relationships/notesMaster" Target="/ppt/notesMasters/notesMaster1.xml" Id="R22988d1984b84c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a3b935860c4beb" /><Relationship Type="http://schemas.openxmlformats.org/officeDocument/2006/relationships/notesMaster" Target="/ppt/notesMasters/notesMaster1.xml" Id="R8cdb136275ee40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c890b354354072" /><Relationship Type="http://schemas.openxmlformats.org/officeDocument/2006/relationships/notesMaster" Target="/ppt/notesMasters/notesMaster1.xml" Id="R789afaa28c6147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04cc3556304a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5447b67b314352" /><Relationship Type="http://schemas.openxmlformats.org/officeDocument/2006/relationships/slideLayout" Target="/ppt/slideLayouts/slideLayout1.xml" Id="R96523830cfb041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523830cfb041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b8f74bb7b4061" /><Relationship Type="http://schemas.openxmlformats.org/officeDocument/2006/relationships/notesSlide" Target="/ppt/notesSlides/notesSlide1.xml" Id="Rdf734e24dc5747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3f845a1384949" /><Relationship Type="http://schemas.openxmlformats.org/officeDocument/2006/relationships/notesSlide" Target="/ppt/notesSlides/notesSlide2.xml" Id="R180831b6c5d44e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3a20424ba4289" /><Relationship Type="http://schemas.openxmlformats.org/officeDocument/2006/relationships/notesSlide" Target="/ppt/notesSlides/notesSlide3.xml" Id="R38bdcc15d67441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5565c7b644cfa" /><Relationship Type="http://schemas.openxmlformats.org/officeDocument/2006/relationships/notesSlide" Target="/ppt/notesSlides/notesSlide4.xml" Id="R15e55c7840a947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eddb564ff4ca9" /><Relationship Type="http://schemas.openxmlformats.org/officeDocument/2006/relationships/notesSlide" Target="/ppt/notesSlides/notesSlide5.xml" Id="Rd3f011d6a2714a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3bd89003c4bbb" /><Relationship Type="http://schemas.openxmlformats.org/officeDocument/2006/relationships/notesSlide" Target="/ppt/notesSlides/notesSlide6.xml" Id="R9cb1657f7f6a43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f6bf861984641" /><Relationship Type="http://schemas.openxmlformats.org/officeDocument/2006/relationships/notesSlide" Target="/ppt/notesSlides/notesSlide7.xml" Id="Rc70b8ecce7ca42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b1e4454d94ff9" /><Relationship Type="http://schemas.openxmlformats.org/officeDocument/2006/relationships/notesSlide" Target="/ppt/notesSlides/notesSlide8.xml" Id="R2ef873858ca644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B1EAD9-31DD-4199-A674-B78358B9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8BE43-F5E6-434A-A502-9D306CF7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33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Fragmentation-aware allocation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3297F-BE9C-4644-930D-24A33182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面向混合大小 KVCache 对象的 Store 分配稳定性优化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7D6EB-4234-4198-AE5A-CA9CE26F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3371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07059-FF24-46A0-B038-5C4C0349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赛题2 · Mooncake Store 性能与可扩展性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BDB59-828D-4727-8FC1-A86DF58B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2838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4475C-C1A5-45FD-8D88-26042683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810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opt-in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739A9-11D6-41A0-94C9-F66840AE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287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--allocation_strategy=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fragmentation_aware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D1D6C-F8B4-44DA-B46A-240BE788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B7723-F7A6-4F08-88A6-40F46C76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4786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182611-0CBB-422B-9AA6-126080A5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DE3DF-1BB5-4286-B119-CE1FF603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这次优化解决的是分配路径里的碎片误判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65B1D-4D30-4FE0-B1A4-4F671C78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0961A-2B6B-4382-B7AF-1F13594C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49F80-3198-4B6C-BD4E-7E35731B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1002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长期运行的 Store 会经历不同大小 KVCache 对象的频繁分配与释放。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7E866-104A-4971-8C68-273DBE36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4363E-BFBE-4E94-B2F3-139EAEFC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1002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总空闲空间较高的 segment，可能只有很多小洞，无法放下大对象。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2396F-3F26-466B-9AD5-B9FF712E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96C34-D51B-4685-8D2D-7B766B33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1002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原有 free_ratio_first 容易优先尝试这类 segment，带来失败分配和 fallback。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474DF-362F-4F78-8A35-3A43C048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93010-9020-4447-BF63-B44698E4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20278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0BA914-DCD6-436D-A4BC-F8506470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7B0CD-5B64-43E3-B6B8-966544A2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新策略优先看当前请求能不能真的放进去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7FA03-1C64-404C-94B8-55C53730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33249-DF88-4CA1-9E62-FEF85420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1F34D-2770-4B9E-B51D-C40346D0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free_ratio_first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0C99F-1D80-4C43-97FC-358087DC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按总空闲比例排序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0933B-4064-43E9-908F-8D6ECE46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可能选择总空闲多但最大连续区不足的 segment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C35BF-E072-4F59-BB61-4365F95F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907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50142-CAE9-4F0B-9199-F3C4990A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76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fragmentation_aware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6DD32-59E2-4475-87B8-EF449CF3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480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先判断 largest free region 是否 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A77AF-20C2-4EE2-AF77-AD210AE5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8140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在 bounded sampling 内排序，不引入全局扫描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45CD2-1323-4A46-8FD8-10D351ED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14DBA-BFCA-4497-AB9F-577B887A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8784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CB5477-11ED-4A89-B104-C3A1CA87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2B4E1-0FB4-4C83-8231-832D060B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实现保持小而清晰，默认行为不变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DFF7B-4A80-42F2-85FD-34AE0845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4D135-3C4A-4947-A1BA-37E95439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E72DA-1542-428D-8F3B-ED5832ED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新增策略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A003C-0EED-4F08-9F1B-44CF3B25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288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AllocationStrategyType::FRAGMENTATION_AWARE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BC1D6-37CB-4180-9D65-55E49217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3FE93-5875-4EB6-AEE1-CE84157A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入口配置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1BFA7-2538-4795-8D24-BB58446D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19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--allocation_strategy=fragmentation_aware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3A334-3F49-4B9D-8B2B-25C0D858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99228-3246-44F5-8AF3-3FD3DADF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核心实现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BDFB4-5004-4ABD-B043-E48F47A7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099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allocation_strategy.h 中新增候选评分与排序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D1E8B-D20A-4591-9D3D-0663A714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FDDFD-C309-48DE-BC50-24168753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测试覆盖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6020EE-8908-4504-88F7-34C15D19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00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碎片化场景与 preferred segment 行为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15573-0A63-489E-B66A-E6A5DFB3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B1AAB-80FF-4FEC-9A7D-C1FD00C4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Benchmark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6131C-1063-45D7-B910-ED325A06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91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将新策略加入 allocation_strategy_bench 矩阵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F892F-4292-4D1F-A700-85F97148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49357-5173-43A1-9C67-56361760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20664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563E68-4E35-418B-B62B-6FEF521A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4E9F0-7C77-4115-BE2F-B5A4C828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合成 Store 模型验证了目标失效模式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1E85F-625E-484A-8CA3-4FABB984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805ED-1DE4-47F7-A5DE-90472B41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72DE0-DD45-4BB9-906C-00DDF6E2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0/6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A886F-6E9F-4BB3-9061-FEBA998C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free_ratio_first primary fit success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16C70-20DA-472A-ACAA-C9297C01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98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D9817-91DB-4DB1-A8C0-D9159179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193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6/6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A7E74-7D01-44E2-B015-35F14FD3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861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fragmentation_aware primary fit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21478-7ED9-4205-8E70-0B232FD0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1215F-3DAD-413F-ACA8-7967FD3D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11 →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52211-802B-45F9-B65E-F5FC6400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861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fallback attempts in deterministic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B8F9D-8300-4B19-802B-C8C754B8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98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E803B-C579-496C-AF81-451D4CA6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5.00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35A60-AD9C-4A97-AA77-AB4D93D7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average candidates scored stays bounded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6BF07-A24B-4005-ABB2-BB15276A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这不是生产 QPS 结论；它证明的是分配路径中“总空闲空间误导选择”的具体问题和改进方向。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ECB82-ACDF-4CE0-AED7-C0B8808A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B5E0E-5B95-4455-8B7F-9DFBF319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19819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9BB1FF-A162-46A4-98E5-EAD91679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1C856-03EC-48F3-9B48-F47450D1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当前提交包已经有代码、文档和复现材料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DA6B4-2F8F-4343-BB4C-6F007722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9B3B8-F438-45D2-865C-4E2E0981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2FBDB-7F57-4B10-BC57-0794A359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PR-ready patch 仍可应用到当前 Mooncake upstream main。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56D06-F551-432B-8656-42BAA11C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3F306-6372-4AF5-B7E6-FCB3E4F2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6225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DESIGN.md 与 EVALUATION.md 对齐赛题仓库的文档建议。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33AC8-9235-4884-A434-D4637BCF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49BB6-AC18-40F2-90D4-17C5F50C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repro/ 和 logs/ 保留了 deterministic simulation 与 metrics 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1899A-B962-4892-B7C1-123F9135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A976C-747A-4BC6-82A9-29FFC99E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SUBMISSION.md 和 GITHUB_RELEASE_GUIDE.md 指向最终平台提交路径。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D5241-A697-41B0-B1CD-BE774A58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1EE9D-8390-4FB9-9BEC-D36E6F29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33477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BFD46A-0F40-4837-95B9-93800A3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D48A1-69D1-477F-8CB5-243C72C4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还需要把证据链从可解释推进到可评测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E95F5-04A9-4BB6-8756-91F9A7B5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F2DA7-9D7A-4D5B-B8EC-B3B66693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13B55-6F6F-492B-A137-181F2771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必须补齐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634F1-E8A9-4BFC-9A40-2B418C89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GitHub 公共仓库、PPT、5 分钟视频、最终 zip 与 SHA256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B0C36-EACE-43EA-8D7F-95D7051B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A767A-EC7C-46A3-9B12-F7D47417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强烈建议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79D4D-41CF-4F5F-914D-D05AAFDF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Mooncake fork 分支或 draft PR，而不是只提交 patch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5BC55-D195-4098-AC52-63D0C541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91473-3516-44F3-9190-36C3D587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24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性能补强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40DB2-52E7-4E5A-A10B-C9FFF631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2430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真实 Store benchmark：put/get 吞吐、P50/P99、内存利用率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17E93-09F1-4E9F-968D-3E353050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208FD-9562-450C-AEB8-42BF641E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43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风险边界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0CACD-CA0B-43CD-B59D-DD5F83B3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当前不声称 RDMA、官方 CI 或真实 SGLang HiCache benchmark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8E871-29E1-42FA-8F15-AE79D3E0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604E4-7906-4C90-8A61-D44F6567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50338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770069-C1C3-40D4-A7CF-84B37502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C3790-E062-4C13-9700-D6E13F06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初赛提交建议采用文件加链接模式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0CA00-1A8F-46FA-8634-7277C2B6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A2B12-44D6-4771-AD43-5BC410BD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提交链接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05B4A-92D2-4AF6-9EA4-2372DB59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GitHub 公开仓库 + Mooncake fork 分支或 PR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51B9B-F8E4-4728-85E3-FE999AB3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提交文件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719ED-BF3A-49AF-BE58-F53F2D5E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zip 包含源码 patch、文档、PPT、视频链接、repro 和 logs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13DD7-A2B2-4ADA-9506-6CC990ED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048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EDB5D-8A4E-4099-A7B5-68E4C9D1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核心答辩句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EB02C-B12C-40AA-9E56-D8EC9C84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我们优化的是 Mooncake Store 的 segment allocation 决策路径，让大对象优先落到能连续 fit 的 segment。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F65BD-FEBF-4DC6-BF75-0628E809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C8FF5-2F75-4EC7-91B7-822FA232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17678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2026-07-07T10:25:39.7160000Z</dcterms:created>
  <dcterms:modified xsi:type="dcterms:W3CDTF">2026-07-07T10:25:39.7160000Z</dcterms:modified>
</coreProperties>
</file>